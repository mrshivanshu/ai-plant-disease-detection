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13"/>
  </p:notesMasterIdLst>
  <p:sldIdLst>
    <p:sldId id="265" r:id="rId2"/>
    <p:sldId id="271" r:id="rId3"/>
    <p:sldId id="256" r:id="rId4"/>
    <p:sldId id="257" r:id="rId5"/>
    <p:sldId id="268" r:id="rId6"/>
    <p:sldId id="270" r:id="rId7"/>
    <p:sldId id="273" r:id="rId8"/>
    <p:sldId id="274" r:id="rId9"/>
    <p:sldId id="275" r:id="rId10"/>
    <p:sldId id="280" r:id="rId11"/>
    <p:sldId id="269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9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7" d="100"/>
          <a:sy n="57" d="100"/>
        </p:scale>
        <p:origin x="1214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52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E38B2-AD91-6679-3E42-6B9A9CF3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EEFFB-86E7-A3F8-642E-0DD66C90E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0107C-A87E-1357-FAF9-E8044DBC5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1E79F-5B2C-8AE3-3718-DAC37D9A30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5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1293C-2979-0CAA-8E09-E1949D78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5E7B8-52C3-AABF-6AC7-4C800AD41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C02A5-C897-C5CE-7295-7EF6793A3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7AA79-A05A-C230-B68A-94668F6932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40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67E8-D84D-EA0F-C0B2-D19EDA9A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A7DC29-B0A5-BAA3-6348-EBF8F80DA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297FB-692D-1477-B66A-9CA5C1C5A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26ECB-EBE5-42F0-8586-AC85505F8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89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DCC21-C6EF-2884-47DF-A91C480BA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C10F3-2AC8-AF85-2224-D9C2EDC50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C5D2B-DB87-937D-BB18-698C81876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E86B3-D4A5-FFD7-BC48-64558138A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7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52AA-C61E-8D15-9134-59A48E02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B874C-00CA-76F2-5574-EB4BB63CE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E22258-1145-ABC1-334E-4D33A0CDB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F4977-2900-C2AC-9FD5-77B3C1BA13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8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7B728-210B-CF4D-409B-CFE28C281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44A54-4044-4FCB-151F-0634F0FEC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2D02C-C1DE-A3A0-F948-DD0E3185B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B12A3-7357-5F65-82F3-3312F6762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210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C12B-9C52-6CFD-D573-D65E0B54E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33561-B34E-BAB3-F208-FF73824C1F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0AF35-7DA2-532F-1F12-144783D63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76E2D-C337-B16D-07BD-6F86AD2182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1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F6FC0-E3E6-F5BE-1653-0F186D96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E2482-666F-CF4D-D56A-E4C3987DD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9B194-E60E-D50D-96F2-DBC0641A4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ADDD5-9D01-048A-357E-EB51C9AD5D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83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81986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731520" y="1925424"/>
            <a:ext cx="13166784" cy="47727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840" b="0" strike="noStrike" spc="-1">
                <a:latin typeface="Arial"/>
              </a:rPr>
              <a:t>Click to edit Master subtitle style</a:t>
            </a:r>
            <a:endParaRPr lang="en-GB" sz="384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58921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13166784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24504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52629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5542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8777664" cy="5085936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840" b="0" strike="noStrike" spc="-1">
                <a:latin typeface="Arial"/>
              </a:rPr>
              <a:t>Click to edit Master subtitle style</a:t>
            </a:r>
            <a:endParaRPr lang="en-GB" sz="384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6212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9318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4772736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7478784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38908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0894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731520" y="4418496"/>
            <a:ext cx="13166784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315492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7478784" y="1925424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731520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7478784" y="4418496"/>
            <a:ext cx="642528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41627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777664" cy="109684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31520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83424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9635328" y="1925424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731520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5183424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9635328" y="4418496"/>
            <a:ext cx="4239360" cy="2276208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US" sz="384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857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39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14629824" cy="1005264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8045568"/>
            <a:ext cx="14629824" cy="237168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9834624" y="0"/>
            <a:ext cx="4795200" cy="1051056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6"/>
          <a:stretch/>
        </p:blipFill>
        <p:spPr>
          <a:xfrm>
            <a:off x="10484928" y="274320"/>
            <a:ext cx="3072960" cy="730944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5"/>
          <a:srcRect b="10718"/>
          <a:stretch/>
        </p:blipFill>
        <p:spPr>
          <a:xfrm>
            <a:off x="10484928" y="274320"/>
            <a:ext cx="3291264" cy="761616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9834624" y="0"/>
            <a:ext cx="4795200" cy="1051056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5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6"/>
          <a:stretch/>
        </p:blipFill>
        <p:spPr>
          <a:xfrm>
            <a:off x="10484928" y="274320"/>
            <a:ext cx="3072960" cy="730944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10362816" cy="100526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731520" y="1645920"/>
            <a:ext cx="13166784" cy="5430672"/>
          </a:xfrm>
          <a:prstGeom prst="rect">
            <a:avLst/>
          </a:prstGeom>
        </p:spPr>
        <p:txBody>
          <a:bodyPr>
            <a:noAutofit/>
          </a:bodyPr>
          <a:lstStyle/>
          <a:p>
            <a:pPr marL="411696" lvl="0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</a:p>
          <a:p>
            <a:pPr marL="411696" lvl="1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</a:p>
          <a:p>
            <a:pPr marL="411696" lvl="2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</a:p>
          <a:p>
            <a:pPr marL="411696" lvl="3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</a:p>
          <a:p>
            <a:pPr marL="411696" lvl="4" indent="-411264">
              <a:lnSpc>
                <a:spcPct val="100000"/>
              </a:lnSpc>
              <a:spcBef>
                <a:spcPts val="769"/>
              </a:spcBef>
              <a:buClr>
                <a:srgbClr val="000000"/>
              </a:buClr>
              <a:buFont typeface="Arial"/>
              <a:buChar char="•"/>
            </a:pPr>
            <a:r>
              <a:rPr lang="en-US" sz="3840" b="0" strike="noStrike" spc="-1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731520" y="7627824"/>
            <a:ext cx="3413376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E6F7824F-FEE6-4FA6-87FA-56806D70CA3A}" type="datetimeFigureOut">
              <a:rPr lang="en-IN" smtClean="0"/>
              <a:pPr/>
              <a:t>25-03-2026</a:t>
            </a:fld>
            <a:endParaRPr lang="en-IN"/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4998528" y="7627824"/>
            <a:ext cx="4632192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IN"/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10484928" y="7627824"/>
            <a:ext cx="3413376" cy="437616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82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8" r:id="rId13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93005-BBB0-579B-90F9-8C564742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9FD5CD0-9B3C-5192-CD4A-91D86058E433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B36C1D1-708A-7023-5A82-FCC4041A6094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4EF5A52-F063-BD98-11B9-841A56FCA7E9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713A65E-294C-5441-4122-662B5E2AF676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D658D78-D16E-28A0-374D-168B40B8B997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2F794D3-5BD8-4C23-EBB2-ABECE429603E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3CA7EA-8E90-3ABA-449F-757D94597793}"/>
              </a:ext>
            </a:extLst>
          </p:cNvPr>
          <p:cNvSpPr txBox="1"/>
          <p:nvPr/>
        </p:nvSpPr>
        <p:spPr>
          <a:xfrm>
            <a:off x="1360449" y="1347484"/>
            <a:ext cx="11664175" cy="6950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Research Paper Presentation of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COOP-II</a:t>
            </a:r>
            <a:endParaRPr lang="en-IN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Synergistic Approach to Automated Plant Disease Diagnosis </a:t>
            </a:r>
            <a:endParaRPr lang="en-US" sz="3200" b="1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400" spc="-1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Shivanshu(2210992329),Suraj Veer(2210990878)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Ajay Kumar</a:t>
            </a: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476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A6D2B3F-DBB7-B245-AB19-18EAC22A8BD3}"/>
              </a:ext>
            </a:extLst>
          </p:cNvPr>
          <p:cNvSpPr txBox="1"/>
          <p:nvPr/>
        </p:nvSpPr>
        <p:spPr>
          <a:xfrm>
            <a:off x="123290" y="1119264"/>
            <a:ext cx="12318715" cy="1674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>
                <a:solidFill>
                  <a:srgbClr val="0D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Plant Disease Detection More </a:t>
            </a:r>
            <a:r>
              <a:rPr lang="en-US" sz="2600" b="1" dirty="0">
                <a:solidFill>
                  <a:srgbClr val="0D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Accuracy</a:t>
            </a:r>
            <a:endParaRPr lang="en-US" sz="2600" dirty="0"/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Role of AI:</a:t>
            </a:r>
          </a:p>
          <a:p>
            <a:pPr lvl="1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Machine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is increasingly used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agriculture for disease detection,crop monitoring and yield improvement.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Early identification of plant diseases is essential to prevent large-scale losses.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Accessibility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Matters:</a:t>
            </a:r>
          </a:p>
          <a:p>
            <a:pPr lvl="1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rely on expert knowledge and manual inspection, which are not easily available to farmers in rural areas.AI-based systems can provide instant and accessible diagnosis.</a:t>
            </a:r>
          </a:p>
          <a:p>
            <a:pPr lvl="1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Is Not Enough:</a:t>
            </a:r>
          </a:p>
          <a:p>
            <a:pPr lvl="1"/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alone is not sufficient. The system must be fast, reliable, and usable in real-world conditions, especially for non-technical users.</a:t>
            </a:r>
            <a:endParaRPr lang="en-US" sz="2400" dirty="0">
              <a:solidFill>
                <a:srgbClr val="3D6B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82188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915D4-6654-4D76-931F-50D4152FDC6C}"/>
              </a:ext>
            </a:extLst>
          </p:cNvPr>
          <p:cNvSpPr txBox="1"/>
          <p:nvPr/>
        </p:nvSpPr>
        <p:spPr>
          <a:xfrm>
            <a:off x="143838" y="1271239"/>
            <a:ext cx="13894546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research in plant disease detection focuses mainly on improving model accuracy, but this is only one aspect of a complete real-world solution.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Many models are developed and evaluated in controlled environments, without considering practical usability and deployment challenges faced by farmers.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approaches like YOLO require bounding box annotations, which are not always available in datasets such as PlantVillage, making them difficult to apply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models often come with large computational requirements, limiting their use on low-resource devices commonly used in agricultural settings.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there is a lack of systems that integrate prediction with actionable insights, such as treatment recommendations, which are essential for practical decision-making.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1987AE-020D-9FEC-BC5B-27F5D14A5EEC}"/>
              </a:ext>
            </a:extLst>
          </p:cNvPr>
          <p:cNvSpPr txBox="1"/>
          <p:nvPr/>
        </p:nvSpPr>
        <p:spPr>
          <a:xfrm>
            <a:off x="486831" y="1018876"/>
            <a:ext cx="14143569" cy="10633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 study aims to </a:t>
            </a:r>
            <a:r>
              <a:rPr lang="en-US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achieve?</a:t>
            </a: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compare different deep learning approaches (YOLO vs EfficientNet).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accurate plant disease classification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Achieve a balance between accuracy and efficiency.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Create a system that is suitable for real-world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>
                <a:latin typeface="Arial" panose="020B0604020202020204" pitchFamily="34" charset="0"/>
              </a:rPr>
              <a:t>  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complete deep learning pipeline for plant disease detection.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Use EfficientNet-B0 with transfer learning for classification.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Train on PlantVillage dataset (54,000+ images).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Deploy the model using FastAPI backend.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Build a web interface for image upload and prediction.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 Provide confidence score and treatment suggestions. </a:t>
            </a:r>
          </a:p>
          <a:p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C7CF1-FA11-A6B7-1E62-68638886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3E4238-E50A-37FF-C1F9-FE068B560D9E}"/>
              </a:ext>
            </a:extLst>
          </p:cNvPr>
          <p:cNvSpPr txBox="1"/>
          <p:nvPr/>
        </p:nvSpPr>
        <p:spPr>
          <a:xfrm>
            <a:off x="116774" y="1147949"/>
            <a:ext cx="13515278" cy="12372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METHEDOLOGY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FRAMEWORK AND APPROACH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/>
              <a:t>1. Data Preparation:</a:t>
            </a:r>
          </a:p>
          <a:p>
            <a:r>
              <a:rPr lang="en-IN" sz="2000"/>
              <a:t>PlantVillage dataset used (54,305 images, 38 classes).</a:t>
            </a:r>
          </a:p>
          <a:p>
            <a:br>
              <a:rPr lang="en-IN" sz="2000"/>
            </a:br>
            <a:r>
              <a:rPr lang="en-IN" sz="2000" b="1"/>
              <a:t>2. Model Selection:</a:t>
            </a:r>
          </a:p>
          <a:p>
            <a:r>
              <a:rPr lang="en-IN" sz="2000"/>
              <a:t>Initial approach with YOLO (object detection).</a:t>
            </a:r>
            <a:br>
              <a:rPr lang="en-IN" sz="2000"/>
            </a:br>
            <a:r>
              <a:rPr lang="en-IN" sz="2000"/>
              <a:t>Switched to EfficientNet-B0 (classification) for better performance.</a:t>
            </a:r>
          </a:p>
          <a:p>
            <a:endParaRPr lang="en-IN" sz="2000"/>
          </a:p>
          <a:p>
            <a:r>
              <a:rPr lang="en-IN" sz="2000" b="1"/>
              <a:t>3. Model Training:</a:t>
            </a:r>
          </a:p>
          <a:p>
            <a:r>
              <a:rPr lang="en-IN" sz="2000"/>
              <a:t>Transfer learning with pre-trained ImageNet weights.</a:t>
            </a:r>
            <a:br>
              <a:rPr lang="en-IN" sz="2000"/>
            </a:br>
            <a:r>
              <a:rPr lang="en-IN" sz="2000"/>
              <a:t>Training limited to 5 epochs.</a:t>
            </a:r>
          </a:p>
          <a:p>
            <a:endParaRPr lang="en-IN" sz="2000"/>
          </a:p>
          <a:p>
            <a:r>
              <a:rPr lang="en-IN" sz="2000" b="1"/>
              <a:t>4. Performance Evaluation:</a:t>
            </a:r>
          </a:p>
          <a:p>
            <a:r>
              <a:rPr lang="en-IN" sz="2000"/>
              <a:t>Metrics used: Accuracy and Loss.</a:t>
            </a:r>
            <a:br>
              <a:rPr lang="en-IN" sz="2000"/>
            </a:br>
            <a:r>
              <a:rPr lang="en-IN" sz="2000"/>
              <a:t>Validation performed after each epoch.</a:t>
            </a:r>
          </a:p>
          <a:p>
            <a:endParaRPr lang="en-IN" sz="2000"/>
          </a:p>
          <a:p>
            <a:r>
              <a:rPr lang="en-IN" sz="2000" b="1"/>
              <a:t>5. Deployment:</a:t>
            </a:r>
          </a:p>
          <a:p>
            <a:r>
              <a:rPr lang="en-IN" sz="2000"/>
              <a:t>Model integrated using FastAPI backend.</a:t>
            </a:r>
            <a:br>
              <a:rPr lang="en-IN" sz="2000"/>
            </a:br>
            <a:r>
              <a:rPr lang="en-IN" sz="2000"/>
              <a:t>Web interface developed for real-time predictions.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rgbClr val="0D2B3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D2B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256484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AFC94-CF58-D31D-9351-ADEBECE5C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6C8441AC-F4FE-2B99-1944-BCEEF4AA2268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5AFBDAE-4BD2-D08E-2AF0-8A0877790F4C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47FFB06-FA5A-9C14-1391-821DFCF0870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85DF1E4-0404-6291-3894-0AE3E72D52CF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9CB2DE3-91E5-5E1E-7D16-7CB646BA15EB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0EDEC68-1B2B-FB8F-9B3E-6FB38A06226A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9C2C9-235B-59F8-1F6C-C9562A1A1C18}"/>
              </a:ext>
            </a:extLst>
          </p:cNvPr>
          <p:cNvSpPr txBox="1"/>
          <p:nvPr/>
        </p:nvSpPr>
        <p:spPr>
          <a:xfrm>
            <a:off x="305410" y="1157906"/>
            <a:ext cx="12760504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/>
              <a:t>Model Performance and Observations: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Comparison: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 performed better than other architectures in terms of accuracy-to-efficiency trade-off</a:t>
            </a:r>
            <a:r>
              <a:rPr lang="en-IN" sz="2400"/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4F2AA1-1A34-AAB2-52DE-89F89C97D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9251"/>
              </p:ext>
            </p:extLst>
          </p:nvPr>
        </p:nvGraphicFramePr>
        <p:xfrm>
          <a:off x="2968669" y="4114800"/>
          <a:ext cx="6463430" cy="35386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23456">
                  <a:extLst>
                    <a:ext uri="{9D8B030D-6E8A-4147-A177-3AD203B41FA5}">
                      <a16:colId xmlns:a16="http://schemas.microsoft.com/office/drawing/2014/main" val="4175565765"/>
                    </a:ext>
                  </a:extLst>
                </a:gridCol>
                <a:gridCol w="1795396">
                  <a:extLst>
                    <a:ext uri="{9D8B030D-6E8A-4147-A177-3AD203B41FA5}">
                      <a16:colId xmlns:a16="http://schemas.microsoft.com/office/drawing/2014/main" val="2561963625"/>
                    </a:ext>
                  </a:extLst>
                </a:gridCol>
                <a:gridCol w="2344578">
                  <a:extLst>
                    <a:ext uri="{9D8B030D-6E8A-4147-A177-3AD203B41FA5}">
                      <a16:colId xmlns:a16="http://schemas.microsoft.com/office/drawing/2014/main" val="958809480"/>
                    </a:ext>
                  </a:extLst>
                </a:gridCol>
              </a:tblGrid>
              <a:tr h="707721"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Parameters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extLst>
                  <a:ext uri="{0D108BD9-81ED-4DB2-BD59-A6C34878D82A}">
                    <a16:rowId xmlns:a16="http://schemas.microsoft.com/office/drawing/2014/main" val="2520563131"/>
                  </a:ext>
                </a:extLst>
              </a:tr>
              <a:tr h="707721"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VGG16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138.4 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92.0%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extLst>
                  <a:ext uri="{0D108BD9-81ED-4DB2-BD59-A6C34878D82A}">
                    <a16:rowId xmlns:a16="http://schemas.microsoft.com/office/drawing/2014/main" val="4223888667"/>
                  </a:ext>
                </a:extLst>
              </a:tr>
              <a:tr h="707721"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ResNet-50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25.6 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93.0%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extLst>
                  <a:ext uri="{0D108BD9-81ED-4DB2-BD59-A6C34878D82A}">
                    <a16:rowId xmlns:a16="http://schemas.microsoft.com/office/drawing/2014/main" val="779545390"/>
                  </a:ext>
                </a:extLst>
              </a:tr>
              <a:tr h="707721"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MobileNetV2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 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93.0%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extLst>
                  <a:ext uri="{0D108BD9-81ED-4DB2-BD59-A6C34878D82A}">
                    <a16:rowId xmlns:a16="http://schemas.microsoft.com/office/drawing/2014/main" val="2185576604"/>
                  </a:ext>
                </a:extLst>
              </a:tr>
              <a:tr h="707721"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EfficientNet-B0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 M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tc>
                  <a:txBody>
                    <a:bodyPr/>
                    <a:lstStyle/>
                    <a:p>
                      <a:pPr marL="0" marR="0" indent="182880" algn="just">
                        <a:buNone/>
                      </a:pPr>
                      <a:r>
                        <a:rPr lang="en-IN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93.1%</a:t>
                      </a:r>
                      <a:endParaRPr lang="en-IN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150" marR="57150" marT="34925" marB="34925"/>
                </a:tc>
                <a:extLst>
                  <a:ext uri="{0D108BD9-81ED-4DB2-BD59-A6C34878D82A}">
                    <a16:rowId xmlns:a16="http://schemas.microsoft.com/office/drawing/2014/main" val="4182510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62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72DEE-D2C7-D179-7390-9E30335D9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32A4A505-36EF-5807-940A-6DAEEA14F340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034784F-C1F6-178B-AA2A-5E2B7087C861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C81259-2A31-6C4E-2632-E57695EF0CB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93049E3-10B6-0F52-B50A-B0BDB15D12F8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E2432D1-5E47-F6FA-A06D-97F5BB5D93C7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03F4A42-D02D-9519-62DD-C94D63D44382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31F874-5E22-BE3E-1F8C-928087061510}"/>
              </a:ext>
            </a:extLst>
          </p:cNvPr>
          <p:cNvSpPr txBox="1"/>
          <p:nvPr/>
        </p:nvSpPr>
        <p:spPr>
          <a:xfrm>
            <a:off x="180149" y="1113157"/>
            <a:ext cx="12760504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Accuracy Achieved:</a:t>
            </a: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 achieved 93.1% validation accuracy within 5 epochs.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683099-3DAC-C572-C28E-6E87A1118A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36693" y="3433190"/>
            <a:ext cx="4872624" cy="368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7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093EB-5E2A-55B5-7F15-E09B57D8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749B5BBB-867B-3373-4370-C7D4516CA40E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1A891F3-37EE-FF4C-16FA-80DA9D1D7D0D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C973353-E118-6F3B-5920-9E0FC6330A5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E503EC4-B94B-5019-FACB-4B56EDE69C9B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235A8420-71DF-2819-3797-8FF76590D5D0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14B96A47-5F13-0B01-B074-F9B40AE8E713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44100-4074-528C-C46F-B90C847DA760}"/>
              </a:ext>
            </a:extLst>
          </p:cNvPr>
          <p:cNvSpPr txBox="1"/>
          <p:nvPr/>
        </p:nvSpPr>
        <p:spPr>
          <a:xfrm>
            <a:off x="92467" y="1238417"/>
            <a:ext cx="12760504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Loss Behavior:</a:t>
            </a: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Training loss showed a sharp decrease initially, followed by gradual convergence.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F59391-14FE-B884-7C4C-CCC601239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40490" y="3397590"/>
            <a:ext cx="4794949" cy="396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71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1413-3354-D62C-DF80-69888F16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53303185-7B14-02A7-5D58-7CBD56491024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66A6F5C-EF64-C4A4-53FD-DFC0DC6DD3D2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96320E4-4452-E7BC-5B1E-84354E7313E3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59E702C-3101-5D70-DE94-AABB37CA869F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524FB94-B030-75B7-187D-34B358D793F0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83DC8EC-1D8E-41CB-760B-ACE877FFBC6B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5103B-4923-6DE2-84C5-C15409946917}"/>
              </a:ext>
            </a:extLst>
          </p:cNvPr>
          <p:cNvSpPr txBox="1"/>
          <p:nvPr/>
        </p:nvSpPr>
        <p:spPr>
          <a:xfrm>
            <a:off x="244867" y="1133642"/>
            <a:ext cx="12760504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Model Output 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C69F34-C53E-3BC0-7F22-1C30CF640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6170" y="2480153"/>
            <a:ext cx="10020822" cy="50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222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54DD-3E7F-4BC1-CBB8-798D35EE6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C4CF9FA-BD70-6D02-9659-085E1A0F482B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A5B5D22-72B7-3466-5648-FD97DA0B15D8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BA98A06-C302-189E-A1FB-F3D3959DF0C1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1569732-4AA6-167F-15EF-392B396E2795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44F9AEF-F565-186E-CB6A-6246C2C97F4B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AEE73DE-40DE-FF34-265D-3D3F83AB3198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2F5A35-7C76-2D2E-98C8-8A802F1BD8D0}"/>
              </a:ext>
            </a:extLst>
          </p:cNvPr>
          <p:cNvSpPr txBox="1"/>
          <p:nvPr/>
        </p:nvSpPr>
        <p:spPr>
          <a:xfrm>
            <a:off x="244867" y="1133642"/>
            <a:ext cx="12760504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Displays predicted disease label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Shows confidence score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Provides treatment suggestion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191089-6EB1-888F-5F84-C02EC8D3A2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9009" y="3382027"/>
            <a:ext cx="9857984" cy="433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4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1343-5C51-EC3D-2BDC-B38EE457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F365A4D3-5192-0986-7251-AA42674EE9AA}"/>
              </a:ext>
            </a:extLst>
          </p:cNvPr>
          <p:cNvSpPr/>
          <p:nvPr/>
        </p:nvSpPr>
        <p:spPr>
          <a:xfrm>
            <a:off x="832104" y="19476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E4985FA-A746-3A6E-DDB0-C8AECBCE8098}"/>
              </a:ext>
            </a:extLst>
          </p:cNvPr>
          <p:cNvSpPr/>
          <p:nvPr/>
        </p:nvSpPr>
        <p:spPr>
          <a:xfrm>
            <a:off x="960120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91C7B0E-6C3C-4957-C1D4-2AA88FAB9E9A}"/>
              </a:ext>
            </a:extLst>
          </p:cNvPr>
          <p:cNvSpPr/>
          <p:nvPr/>
        </p:nvSpPr>
        <p:spPr>
          <a:xfrm>
            <a:off x="5404104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53E21AF-588D-0FE6-7C5C-E7CD695900F0}"/>
              </a:ext>
            </a:extLst>
          </p:cNvPr>
          <p:cNvSpPr/>
          <p:nvPr/>
        </p:nvSpPr>
        <p:spPr>
          <a:xfrm>
            <a:off x="5404104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1AD95E8-0676-7B7E-7A81-9A842A5DC5C9}"/>
              </a:ext>
            </a:extLst>
          </p:cNvPr>
          <p:cNvSpPr/>
          <p:nvPr/>
        </p:nvSpPr>
        <p:spPr>
          <a:xfrm>
            <a:off x="9848088" y="4471416"/>
            <a:ext cx="38313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AEC5B63-6873-1181-004F-5A6056448A55}"/>
              </a:ext>
            </a:extLst>
          </p:cNvPr>
          <p:cNvSpPr/>
          <p:nvPr/>
        </p:nvSpPr>
        <p:spPr>
          <a:xfrm>
            <a:off x="9848088" y="4974336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E1EAC-63A5-ED26-EA15-FC413B1268BD}"/>
              </a:ext>
            </a:extLst>
          </p:cNvPr>
          <p:cNvSpPr txBox="1"/>
          <p:nvPr/>
        </p:nvSpPr>
        <p:spPr>
          <a:xfrm>
            <a:off x="133564" y="1202075"/>
            <a:ext cx="13181744" cy="10002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EfficientNet-B0 achieved 93.1% accuracy within 5 epochs, showing fast convergence.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demonstrated a good balance between accuracy and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was successfully deployed using FastAPI with a web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Overall, the model provides a practical and real-time solution for plant  disease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/>
          </a:p>
          <a:p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834D93A4-2C33-6C31-E171-61F568CCD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04" y="5162363"/>
            <a:ext cx="927850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Train the model for more epochs to improve accuracy further.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Deploy the system on mobile devices for wider accessibility.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Expand to support more crops and disease types.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Improve robustness for complex backgrounds and lighting conditions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98594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ppt</Template>
  <TotalTime>548</TotalTime>
  <Words>693</Words>
  <Application>Microsoft Office PowerPoint</Application>
  <PresentationFormat>Custom</PresentationFormat>
  <Paragraphs>256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Shivanshu Pandyar</cp:lastModifiedBy>
  <cp:revision>13</cp:revision>
  <dcterms:created xsi:type="dcterms:W3CDTF">2025-08-06T19:24:49Z</dcterms:created>
  <dcterms:modified xsi:type="dcterms:W3CDTF">2026-03-25T06:33:08Z</dcterms:modified>
</cp:coreProperties>
</file>